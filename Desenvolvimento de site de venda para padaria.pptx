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5"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pt-BR"/>
              <a:t>Clique para editar o título Mestre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pt-BR"/>
              <a:t>Clique para editar o título Mestre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pt-BR"/>
              <a:t>Clique para editar o título Mestre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8A87A34-81AB-432B-8DAE-1953F412C126}" type="datetimeFigureOut">
              <a:rPr lang="en-US" dirty="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pt-BR"/>
              <a:t>Clique para editar o título Mestre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Content Placeholder 3"/>
          <p:cNvSpPr>
            <a:spLocks noGrp="1"/>
          </p:cNvSpPr>
          <p:nvPr>
            <p:ph sz="quarter" idx="13"/>
          </p:nvPr>
        </p:nvSpPr>
        <p:spPr>
          <a:xfrm>
            <a:off x="913774" y="3051012"/>
            <a:ext cx="5106027" cy="274018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3" name="Content Placeholder 5"/>
          <p:cNvSpPr>
            <a:spLocks noGrp="1"/>
          </p:cNvSpPr>
          <p:nvPr>
            <p:ph sz="quarter" idx="14"/>
          </p:nvPr>
        </p:nvSpPr>
        <p:spPr>
          <a:xfrm>
            <a:off x="6172200" y="3051012"/>
            <a:ext cx="5105401" cy="274018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pt-BR"/>
              <a:t>Clique para editar o título Mestre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pt-BR"/>
              <a:t>Clique para editar o título Mestre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dirty="0"/>
              <a:t>10/20/2026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10/20/2026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dirty="0"/>
              <a:t>10/20/2026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pt-BR"/>
              <a:t>Clique para editar o título Mestre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pt-BR"/>
              <a:t>Clique para editar o título Mestre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10/20/2026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BD8FA5-B713-C733-DD65-12E1D0CBC7A6}"/>
              </a:ext>
            </a:extLst>
          </p:cNvPr>
          <p:cNvSpPr>
            <a:spLocks noGrp="1"/>
          </p:cNvSpPr>
          <p:nvPr>
            <p:ph type="ctrTitle"/>
          </p:nvPr>
        </p:nvSpPr>
        <p:spPr>
          <a:xfrm>
            <a:off x="2780522" y="2901820"/>
            <a:ext cx="6503437" cy="1586204"/>
          </a:xfrm>
        </p:spPr>
        <p:txBody>
          <a:bodyPr>
            <a:normAutofit/>
          </a:bodyPr>
          <a:lstStyle/>
          <a:p>
            <a:r>
              <a:rPr lang="pt-BR" sz="1700" dirty="0"/>
              <a:t>Desenvolvimento de site de venda para padaria </a:t>
            </a:r>
            <a:br>
              <a:rPr lang="pt-PT" sz="1700" dirty="0"/>
            </a:br>
            <a:endParaRPr lang="pt-PT" dirty="0"/>
          </a:p>
        </p:txBody>
      </p:sp>
      <p:sp>
        <p:nvSpPr>
          <p:cNvPr id="3" name="Subtítulo 2">
            <a:extLst>
              <a:ext uri="{FF2B5EF4-FFF2-40B4-BE49-F238E27FC236}">
                <a16:creationId xmlns:a16="http://schemas.microsoft.com/office/drawing/2014/main" id="{190C71C3-A2C7-7675-9760-5EA239D09816}"/>
              </a:ext>
            </a:extLst>
          </p:cNvPr>
          <p:cNvSpPr>
            <a:spLocks noGrp="1"/>
          </p:cNvSpPr>
          <p:nvPr>
            <p:ph type="subTitle" idx="1"/>
          </p:nvPr>
        </p:nvSpPr>
        <p:spPr/>
        <p:txBody>
          <a:bodyPr/>
          <a:lstStyle/>
          <a:p>
            <a:r>
              <a:rPr lang="pt-BR" sz="2400" b="1" dirty="0"/>
              <a:t>Estudo de caso: </a:t>
            </a:r>
            <a:r>
              <a:rPr lang="pt-BR" sz="2400" dirty="0"/>
              <a:t>padaria jc</a:t>
            </a:r>
            <a:endParaRPr lang="pt-PT" dirty="0"/>
          </a:p>
        </p:txBody>
      </p:sp>
      <p:sp>
        <p:nvSpPr>
          <p:cNvPr id="4" name="Rectangle 2">
            <a:extLst>
              <a:ext uri="{FF2B5EF4-FFF2-40B4-BE49-F238E27FC236}">
                <a16:creationId xmlns:a16="http://schemas.microsoft.com/office/drawing/2014/main" id="{D47AA6D7-60EA-3F46-66B4-CD21AC6284C7}"/>
              </a:ext>
            </a:extLst>
          </p:cNvPr>
          <p:cNvSpPr>
            <a:spLocks noChangeArrowheads="1"/>
          </p:cNvSpPr>
          <p:nvPr/>
        </p:nvSpPr>
        <p:spPr bwMode="auto">
          <a:xfrm>
            <a:off x="0" y="0"/>
            <a:ext cx="10935236" cy="359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pt-PT"/>
          </a:p>
        </p:txBody>
      </p:sp>
      <p:pic>
        <p:nvPicPr>
          <p:cNvPr id="1025" name="Imagem 1">
            <a:extLst>
              <a:ext uri="{FF2B5EF4-FFF2-40B4-BE49-F238E27FC236}">
                <a16:creationId xmlns:a16="http://schemas.microsoft.com/office/drawing/2014/main" id="{75C45CE6-12B3-D0C4-E266-C04FB2B0E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7358" y="522636"/>
            <a:ext cx="1811148" cy="7930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E85E584B-4C7E-A7A7-8C88-7F709D89583F}"/>
              </a:ext>
            </a:extLst>
          </p:cNvPr>
          <p:cNvSpPr>
            <a:spLocks noChangeArrowheads="1"/>
          </p:cNvSpPr>
          <p:nvPr/>
        </p:nvSpPr>
        <p:spPr bwMode="auto">
          <a:xfrm>
            <a:off x="1751012" y="1259692"/>
            <a:ext cx="77942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PT"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INSTITUTO M</a:t>
            </a:r>
            <a:r>
              <a:rPr kumimoji="0" lang="pt-BR" altLang="pt-PT"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É</a:t>
            </a:r>
            <a:r>
              <a:rPr kumimoji="0" lang="pt-BR" altLang="pt-PT"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DIO COMERCIAL DE LUANDA</a:t>
            </a:r>
            <a:endParaRPr kumimoji="0" lang="pt-PT" altLang="pt-PT"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PT"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COORDENA</a:t>
            </a:r>
            <a:r>
              <a:rPr kumimoji="0" lang="pt-BR" altLang="pt-PT"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Ç</a:t>
            </a:r>
            <a:r>
              <a:rPr kumimoji="0" lang="pt-BR" altLang="pt-PT"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ÃO DO CURSO DE INFORM</a:t>
            </a:r>
            <a:r>
              <a:rPr kumimoji="0" lang="pt-BR" altLang="pt-PT"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Á</a:t>
            </a:r>
            <a:r>
              <a:rPr kumimoji="0" lang="pt-BR" altLang="pt-PT"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TICA DE GESTÃO</a:t>
            </a:r>
            <a:endParaRPr kumimoji="0" lang="pt-BR" altLang="pt-P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4566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61033E-0ECC-CB34-C771-1AE0DA9B9339}"/>
              </a:ext>
            </a:extLst>
          </p:cNvPr>
          <p:cNvSpPr>
            <a:spLocks noGrp="1"/>
          </p:cNvSpPr>
          <p:nvPr>
            <p:ph type="title"/>
          </p:nvPr>
        </p:nvSpPr>
        <p:spPr/>
        <p:txBody>
          <a:bodyPr/>
          <a:lstStyle/>
          <a:p>
            <a:r>
              <a:rPr lang="pt-PT" dirty="0"/>
              <a:t>Ficha técnica</a:t>
            </a:r>
          </a:p>
        </p:txBody>
      </p:sp>
      <p:sp>
        <p:nvSpPr>
          <p:cNvPr id="3" name="Espaço Reservado para Conteúdo 2">
            <a:extLst>
              <a:ext uri="{FF2B5EF4-FFF2-40B4-BE49-F238E27FC236}">
                <a16:creationId xmlns:a16="http://schemas.microsoft.com/office/drawing/2014/main" id="{F6528956-832D-8A07-2036-DD4C3FC97625}"/>
              </a:ext>
            </a:extLst>
          </p:cNvPr>
          <p:cNvSpPr>
            <a:spLocks noGrp="1"/>
          </p:cNvSpPr>
          <p:nvPr>
            <p:ph sz="quarter" idx="13"/>
          </p:nvPr>
        </p:nvSpPr>
        <p:spPr/>
        <p:txBody>
          <a:bodyPr/>
          <a:lstStyle/>
          <a:p>
            <a:r>
              <a:rPr lang="pt-BR" b="1" dirty="0"/>
              <a:t>Nome:</a:t>
            </a:r>
            <a:r>
              <a:rPr lang="pt-BR" dirty="0"/>
              <a:t> José Carlos de Lemos Martins</a:t>
            </a:r>
            <a:endParaRPr lang="pt-PT" dirty="0"/>
          </a:p>
          <a:p>
            <a:r>
              <a:rPr lang="pt-BR" b="1" dirty="0"/>
              <a:t>Turma: </a:t>
            </a:r>
            <a:r>
              <a:rPr lang="pt-BR" dirty="0"/>
              <a:t>DTI</a:t>
            </a:r>
            <a:endParaRPr lang="pt-PT" dirty="0"/>
          </a:p>
          <a:p>
            <a:r>
              <a:rPr lang="pt-BR" b="1" dirty="0"/>
              <a:t>Classe:</a:t>
            </a:r>
            <a:r>
              <a:rPr lang="pt-BR" dirty="0"/>
              <a:t> 13ª Classe</a:t>
            </a:r>
            <a:endParaRPr lang="pt-PT" dirty="0"/>
          </a:p>
          <a:p>
            <a:endParaRPr lang="pt-PT" dirty="0"/>
          </a:p>
        </p:txBody>
      </p:sp>
    </p:spTree>
    <p:extLst>
      <p:ext uri="{BB962C8B-B14F-4D97-AF65-F5344CB8AC3E}">
        <p14:creationId xmlns:p14="http://schemas.microsoft.com/office/powerpoint/2010/main" val="436177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845CFD-8244-C820-AA76-B11173CEDC88}"/>
              </a:ext>
            </a:extLst>
          </p:cNvPr>
          <p:cNvSpPr>
            <a:spLocks noGrp="1"/>
          </p:cNvSpPr>
          <p:nvPr>
            <p:ph type="title"/>
          </p:nvPr>
        </p:nvSpPr>
        <p:spPr/>
        <p:txBody>
          <a:bodyPr/>
          <a:lstStyle/>
          <a:p>
            <a:r>
              <a:rPr lang="pt-BR" b="1" dirty="0"/>
              <a:t>Problema</a:t>
            </a:r>
            <a:br>
              <a:rPr lang="pt-PT" dirty="0"/>
            </a:br>
            <a:endParaRPr lang="pt-PT" dirty="0"/>
          </a:p>
        </p:txBody>
      </p:sp>
      <p:sp>
        <p:nvSpPr>
          <p:cNvPr id="3" name="Espaço Reservado para Conteúdo 2">
            <a:extLst>
              <a:ext uri="{FF2B5EF4-FFF2-40B4-BE49-F238E27FC236}">
                <a16:creationId xmlns:a16="http://schemas.microsoft.com/office/drawing/2014/main" id="{3EB5FCF2-5FAC-2371-1C6D-4E6104513CC3}"/>
              </a:ext>
            </a:extLst>
          </p:cNvPr>
          <p:cNvSpPr>
            <a:spLocks noGrp="1"/>
          </p:cNvSpPr>
          <p:nvPr>
            <p:ph sz="quarter" idx="13"/>
          </p:nvPr>
        </p:nvSpPr>
        <p:spPr/>
        <p:txBody>
          <a:bodyPr>
            <a:normAutofit fontScale="92500"/>
          </a:bodyPr>
          <a:lstStyle/>
          <a:p>
            <a:r>
              <a:rPr lang="pt-BR" dirty="0"/>
              <a:t>A padaria enfrenta dificuldades em divulgar os seus produtos e atender os clientes de forma rápida e eficiente, devido à falta de plataformas digitais para a realização de compras online. Essa situação faz com que os clientes tenham de se deslocar até ao estabelecimento para conhecer os produtos disponíveis e efetuar as suas compras, o que pode causar perda de tempo e limitar as oportunidades de venda. Diante desse problema, surge a necessidade de desenvolver um site de vendas para uma padaria, que permita aos clientes visualizar os produtos, consultar os preços e realizar encomendas de forma simples, rápida e cómoda, contribuindo para a melhoria do atendimento e o aumento das vendas.</a:t>
            </a:r>
            <a:endParaRPr lang="pt-PT" dirty="0"/>
          </a:p>
          <a:p>
            <a:endParaRPr lang="pt-PT" dirty="0"/>
          </a:p>
        </p:txBody>
      </p:sp>
    </p:spTree>
    <p:extLst>
      <p:ext uri="{BB962C8B-B14F-4D97-AF65-F5344CB8AC3E}">
        <p14:creationId xmlns:p14="http://schemas.microsoft.com/office/powerpoint/2010/main" val="1972613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F69C85-1965-C035-165B-335180307C81}"/>
              </a:ext>
            </a:extLst>
          </p:cNvPr>
          <p:cNvSpPr>
            <a:spLocks noGrp="1"/>
          </p:cNvSpPr>
          <p:nvPr>
            <p:ph type="title"/>
          </p:nvPr>
        </p:nvSpPr>
        <p:spPr/>
        <p:txBody>
          <a:bodyPr/>
          <a:lstStyle/>
          <a:p>
            <a:r>
              <a:rPr lang="pt-BR" b="1" dirty="0"/>
              <a:t>PERGUNTA DE PESQUISA</a:t>
            </a:r>
            <a:br>
              <a:rPr lang="pt-PT" dirty="0"/>
            </a:br>
            <a:endParaRPr lang="pt-PT" dirty="0"/>
          </a:p>
        </p:txBody>
      </p:sp>
      <p:sp>
        <p:nvSpPr>
          <p:cNvPr id="3" name="Espaço Reservado para Conteúdo 2">
            <a:extLst>
              <a:ext uri="{FF2B5EF4-FFF2-40B4-BE49-F238E27FC236}">
                <a16:creationId xmlns:a16="http://schemas.microsoft.com/office/drawing/2014/main" id="{D15E1AB9-152C-889C-F87B-CC5B5FF0B64A}"/>
              </a:ext>
            </a:extLst>
          </p:cNvPr>
          <p:cNvSpPr>
            <a:spLocks noGrp="1"/>
          </p:cNvSpPr>
          <p:nvPr>
            <p:ph sz="quarter" idx="13"/>
          </p:nvPr>
        </p:nvSpPr>
        <p:spPr/>
        <p:txBody>
          <a:bodyPr>
            <a:normAutofit fontScale="85000" lnSpcReduction="20000"/>
          </a:bodyPr>
          <a:lstStyle/>
          <a:p>
            <a:pPr lvl="0"/>
            <a:r>
              <a:rPr lang="pt-PT" dirty="0"/>
              <a:t>Quais são as principais dificuldades enfrentadas pelos clientes na compra de produtos d</a:t>
            </a:r>
            <a:r>
              <a:rPr lang="pt-BR" dirty="0"/>
              <a:t>a</a:t>
            </a:r>
            <a:r>
              <a:rPr lang="pt-PT" dirty="0"/>
              <a:t> padaria?</a:t>
            </a:r>
          </a:p>
          <a:p>
            <a:pPr lvl="0"/>
            <a:r>
              <a:rPr lang="pt-PT" dirty="0"/>
              <a:t>De que forma um site de vendas pode facilitar a divulgação dos produtos e dos preços da padaria?</a:t>
            </a:r>
          </a:p>
          <a:p>
            <a:pPr lvl="0"/>
            <a:r>
              <a:rPr lang="pt-PT" dirty="0"/>
              <a:t>Como a implementação de um sistema de encomendas online pode contribuir para a melhoria do atendimento aos clientes?</a:t>
            </a:r>
          </a:p>
          <a:p>
            <a:pPr lvl="0"/>
            <a:r>
              <a:rPr lang="pt-PT" dirty="0"/>
              <a:t>Quais são as funcionalidades necessárias para garantir que o site seja simples, acessível e fácil de utilizar?</a:t>
            </a:r>
          </a:p>
          <a:p>
            <a:pPr lvl="0"/>
            <a:r>
              <a:rPr lang="pt-PT" dirty="0"/>
              <a:t>De que maneira o desenvolvimento do site pode contribuir para o aumento das vendas e para a satisfação dos clientes?</a:t>
            </a:r>
          </a:p>
          <a:p>
            <a:endParaRPr lang="pt-PT" dirty="0"/>
          </a:p>
        </p:txBody>
      </p:sp>
    </p:spTree>
    <p:extLst>
      <p:ext uri="{BB962C8B-B14F-4D97-AF65-F5344CB8AC3E}">
        <p14:creationId xmlns:p14="http://schemas.microsoft.com/office/powerpoint/2010/main" val="221729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D269B1-BAB6-4318-91A6-AE88F519A8A3}"/>
              </a:ext>
            </a:extLst>
          </p:cNvPr>
          <p:cNvSpPr>
            <a:spLocks noGrp="1"/>
          </p:cNvSpPr>
          <p:nvPr>
            <p:ph type="title"/>
          </p:nvPr>
        </p:nvSpPr>
        <p:spPr/>
        <p:txBody>
          <a:bodyPr/>
          <a:lstStyle/>
          <a:p>
            <a:r>
              <a:rPr lang="pt-BR" b="1" dirty="0"/>
              <a:t>Objetivo geral e específico</a:t>
            </a:r>
            <a:br>
              <a:rPr lang="pt-PT" dirty="0"/>
            </a:br>
            <a:endParaRPr lang="pt-PT" dirty="0"/>
          </a:p>
        </p:txBody>
      </p:sp>
      <p:sp>
        <p:nvSpPr>
          <p:cNvPr id="3" name="Espaço Reservado para Conteúdo 2">
            <a:extLst>
              <a:ext uri="{FF2B5EF4-FFF2-40B4-BE49-F238E27FC236}">
                <a16:creationId xmlns:a16="http://schemas.microsoft.com/office/drawing/2014/main" id="{852D8F0E-0F5D-7639-2B9B-5BCD809861FE}"/>
              </a:ext>
            </a:extLst>
          </p:cNvPr>
          <p:cNvSpPr>
            <a:spLocks noGrp="1"/>
          </p:cNvSpPr>
          <p:nvPr>
            <p:ph sz="quarter" idx="13"/>
          </p:nvPr>
        </p:nvSpPr>
        <p:spPr/>
        <p:txBody>
          <a:bodyPr>
            <a:normAutofit fontScale="55000" lnSpcReduction="20000"/>
          </a:bodyPr>
          <a:lstStyle/>
          <a:p>
            <a:r>
              <a:rPr lang="pt-BR" b="1" dirty="0"/>
              <a:t>Objetivo geral</a:t>
            </a:r>
            <a:endParaRPr lang="pt-PT" dirty="0"/>
          </a:p>
          <a:p>
            <a:r>
              <a:rPr lang="pt-PT" dirty="0"/>
              <a:t>Desenvolver um site de vendas para a padaria, com o objetivo de facilitar a divulgação e a comercialização dos seus produtos, permitir a realização de encomendas online e melhorar a experiência dos clientes, contribuindo para a eficiência do atendimento e o aumento das vendas.</a:t>
            </a:r>
          </a:p>
          <a:p>
            <a:r>
              <a:rPr lang="pt-BR" b="1" dirty="0"/>
              <a:t>Objetivo específico</a:t>
            </a:r>
            <a:endParaRPr lang="pt-PT" dirty="0"/>
          </a:p>
          <a:p>
            <a:pPr lvl="0"/>
            <a:r>
              <a:rPr lang="pt-PT" dirty="0"/>
              <a:t>Identificar as principais dificuldades enfrentadas pelos clientes no processo de compra dos produtos da padaria.</a:t>
            </a:r>
          </a:p>
          <a:p>
            <a:pPr lvl="0"/>
            <a:r>
              <a:rPr lang="pt-PT" dirty="0"/>
              <a:t>Analisar as necessidades da padaria relativamente à divulgação e à comercialização dos seus produtos.</a:t>
            </a:r>
          </a:p>
          <a:p>
            <a:pPr lvl="0"/>
            <a:r>
              <a:rPr lang="pt-PT" dirty="0"/>
              <a:t>Desenvolver uma interface simples e intuitiva que permita aos clientes visualizar os produtos e consultar os respetivos preços.</a:t>
            </a:r>
          </a:p>
          <a:p>
            <a:pPr lvl="0"/>
            <a:r>
              <a:rPr lang="pt-PT" dirty="0"/>
              <a:t>Implementar funcionalidades que permitam aos clientes selecionar produtos e realizar encomendas online.</a:t>
            </a:r>
          </a:p>
          <a:p>
            <a:pPr lvl="0"/>
            <a:r>
              <a:rPr lang="pt-PT" dirty="0"/>
              <a:t>Desenvolver um sistema de gestão dos produtos, permitindo atualizar informações, preços e disponibilidade.</a:t>
            </a:r>
          </a:p>
          <a:p>
            <a:pPr lvl="0"/>
            <a:r>
              <a:rPr lang="pt-PT" dirty="0"/>
              <a:t>Testar o funcionamento do site, de modo a garantir a sua usabilidade, eficiência e adequação às necessidades dos utilizadores.</a:t>
            </a:r>
          </a:p>
          <a:p>
            <a:endParaRPr lang="pt-PT" dirty="0"/>
          </a:p>
        </p:txBody>
      </p:sp>
    </p:spTree>
    <p:extLst>
      <p:ext uri="{BB962C8B-B14F-4D97-AF65-F5344CB8AC3E}">
        <p14:creationId xmlns:p14="http://schemas.microsoft.com/office/powerpoint/2010/main" val="1024793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D73822-B4CC-6DB9-0C8E-58EB7E46D913}"/>
              </a:ext>
            </a:extLst>
          </p:cNvPr>
          <p:cNvSpPr>
            <a:spLocks noGrp="1"/>
          </p:cNvSpPr>
          <p:nvPr>
            <p:ph type="title"/>
          </p:nvPr>
        </p:nvSpPr>
        <p:spPr/>
        <p:txBody>
          <a:bodyPr/>
          <a:lstStyle/>
          <a:p>
            <a:r>
              <a:rPr lang="pt-BR" b="1" dirty="0"/>
              <a:t>Tecnologia utilizadas</a:t>
            </a:r>
            <a:br>
              <a:rPr lang="pt-PT" dirty="0"/>
            </a:br>
            <a:endParaRPr lang="pt-PT" dirty="0"/>
          </a:p>
        </p:txBody>
      </p:sp>
      <p:sp>
        <p:nvSpPr>
          <p:cNvPr id="3" name="Espaço Reservado para Conteúdo 2">
            <a:extLst>
              <a:ext uri="{FF2B5EF4-FFF2-40B4-BE49-F238E27FC236}">
                <a16:creationId xmlns:a16="http://schemas.microsoft.com/office/drawing/2014/main" id="{0CC10E74-F0FA-43CE-C382-26267BE398E2}"/>
              </a:ext>
            </a:extLst>
          </p:cNvPr>
          <p:cNvSpPr>
            <a:spLocks noGrp="1"/>
          </p:cNvSpPr>
          <p:nvPr>
            <p:ph sz="quarter" idx="13"/>
          </p:nvPr>
        </p:nvSpPr>
        <p:spPr/>
        <p:txBody>
          <a:bodyPr>
            <a:normAutofit fontScale="55000" lnSpcReduction="20000"/>
          </a:bodyPr>
          <a:lstStyle/>
          <a:p>
            <a:pPr lvl="0"/>
            <a:r>
              <a:rPr lang="pt-BR" dirty="0"/>
              <a:t>Web</a:t>
            </a:r>
            <a:endParaRPr lang="pt-PT" dirty="0"/>
          </a:p>
          <a:p>
            <a:pPr lvl="0"/>
            <a:r>
              <a:rPr lang="pt-BR" dirty="0"/>
              <a:t>Site</a:t>
            </a:r>
            <a:endParaRPr lang="pt-PT" dirty="0"/>
          </a:p>
          <a:p>
            <a:pPr lvl="0"/>
            <a:r>
              <a:rPr lang="pt-BR" dirty="0"/>
              <a:t>HTML</a:t>
            </a:r>
            <a:endParaRPr lang="pt-PT" dirty="0"/>
          </a:p>
          <a:p>
            <a:pPr lvl="0"/>
            <a:r>
              <a:rPr lang="pt-BR" dirty="0"/>
              <a:t>CSS</a:t>
            </a:r>
            <a:endParaRPr lang="pt-PT" dirty="0"/>
          </a:p>
          <a:p>
            <a:pPr lvl="0"/>
            <a:r>
              <a:rPr lang="pt-BR" dirty="0"/>
              <a:t>JAVASCRIPT</a:t>
            </a:r>
            <a:endParaRPr lang="pt-PT" dirty="0"/>
          </a:p>
          <a:p>
            <a:pPr lvl="0"/>
            <a:r>
              <a:rPr lang="pt-BR" dirty="0"/>
              <a:t>PHP</a:t>
            </a:r>
            <a:endParaRPr lang="pt-PT" dirty="0"/>
          </a:p>
          <a:p>
            <a:pPr lvl="0"/>
            <a:r>
              <a:rPr lang="pt-BR" dirty="0"/>
              <a:t>MYSQL</a:t>
            </a:r>
            <a:endParaRPr lang="pt-PT" dirty="0"/>
          </a:p>
          <a:p>
            <a:pPr lvl="0"/>
            <a:r>
              <a:rPr lang="pt-BR" dirty="0"/>
              <a:t>VISUAL STUDIO CODE</a:t>
            </a:r>
            <a:endParaRPr lang="pt-PT" dirty="0"/>
          </a:p>
          <a:p>
            <a:pPr lvl="0"/>
            <a:r>
              <a:rPr lang="pt-BR" dirty="0"/>
              <a:t>XAMPP</a:t>
            </a:r>
            <a:endParaRPr lang="pt-PT" dirty="0"/>
          </a:p>
          <a:p>
            <a:pPr lvl="0"/>
            <a:r>
              <a:rPr lang="pt-BR" dirty="0"/>
              <a:t>GIT HUB</a:t>
            </a:r>
            <a:endParaRPr lang="pt-PT" dirty="0"/>
          </a:p>
          <a:p>
            <a:pPr lvl="0"/>
            <a:r>
              <a:rPr lang="pt-BR" dirty="0"/>
              <a:t>POWER POINT</a:t>
            </a:r>
            <a:endParaRPr lang="pt-PT" dirty="0"/>
          </a:p>
          <a:p>
            <a:endParaRPr lang="pt-PT" dirty="0"/>
          </a:p>
        </p:txBody>
      </p:sp>
    </p:spTree>
    <p:extLst>
      <p:ext uri="{BB962C8B-B14F-4D97-AF65-F5344CB8AC3E}">
        <p14:creationId xmlns:p14="http://schemas.microsoft.com/office/powerpoint/2010/main" val="727396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AFD76E-1744-E6F2-4461-09C213BA5981}"/>
              </a:ext>
            </a:extLst>
          </p:cNvPr>
          <p:cNvSpPr>
            <a:spLocks noGrp="1"/>
          </p:cNvSpPr>
          <p:nvPr>
            <p:ph type="title"/>
          </p:nvPr>
        </p:nvSpPr>
        <p:spPr/>
        <p:txBody>
          <a:bodyPr/>
          <a:lstStyle/>
          <a:p>
            <a:r>
              <a:rPr lang="pt-PT" b="1" dirty="0"/>
              <a:t>Estudo de comparação</a:t>
            </a:r>
            <a:br>
              <a:rPr lang="pt-PT" dirty="0"/>
            </a:br>
            <a:endParaRPr lang="pt-PT" dirty="0"/>
          </a:p>
        </p:txBody>
      </p:sp>
      <p:sp>
        <p:nvSpPr>
          <p:cNvPr id="3" name="Espaço Reservado para Conteúdo 2">
            <a:extLst>
              <a:ext uri="{FF2B5EF4-FFF2-40B4-BE49-F238E27FC236}">
                <a16:creationId xmlns:a16="http://schemas.microsoft.com/office/drawing/2014/main" id="{69F34E7C-D95D-DC40-42E9-CD479AC435A5}"/>
              </a:ext>
            </a:extLst>
          </p:cNvPr>
          <p:cNvSpPr>
            <a:spLocks noGrp="1"/>
          </p:cNvSpPr>
          <p:nvPr>
            <p:ph sz="quarter" idx="13"/>
          </p:nvPr>
        </p:nvSpPr>
        <p:spPr/>
        <p:txBody>
          <a:bodyPr/>
          <a:lstStyle/>
          <a:p>
            <a:r>
              <a:rPr lang="pt-PT" dirty="0"/>
              <a:t>Conclui-se que a comparação entre uma padaria tradicional e uma padaria informatizada permite identificar diferenças importantes na gestão, na produção e no controlo financeiro. Embora os métodos tradicionais continuem a ser úteis, a utilização adequada de tecnologias pode facilitar as operações e melhorar o acesso a informações necessárias para a tomada de decisões.</a:t>
            </a:r>
          </a:p>
          <a:p>
            <a:endParaRPr lang="pt-PT" dirty="0"/>
          </a:p>
        </p:txBody>
      </p:sp>
    </p:spTree>
    <p:extLst>
      <p:ext uri="{BB962C8B-B14F-4D97-AF65-F5344CB8AC3E}">
        <p14:creationId xmlns:p14="http://schemas.microsoft.com/office/powerpoint/2010/main" val="1304117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4A9495-51DF-079B-8F90-C6B0097825C5}"/>
              </a:ext>
            </a:extLst>
          </p:cNvPr>
          <p:cNvSpPr>
            <a:spLocks noGrp="1"/>
          </p:cNvSpPr>
          <p:nvPr>
            <p:ph type="title"/>
          </p:nvPr>
        </p:nvSpPr>
        <p:spPr/>
        <p:txBody>
          <a:bodyPr/>
          <a:lstStyle/>
          <a:p>
            <a:r>
              <a:rPr lang="pt-BR" b="1" dirty="0"/>
              <a:t>WEB</a:t>
            </a:r>
            <a:br>
              <a:rPr lang="pt-PT" b="1" dirty="0"/>
            </a:br>
            <a:endParaRPr lang="pt-PT" dirty="0"/>
          </a:p>
        </p:txBody>
      </p:sp>
      <p:sp>
        <p:nvSpPr>
          <p:cNvPr id="3" name="Espaço Reservado para Conteúdo 2">
            <a:extLst>
              <a:ext uri="{FF2B5EF4-FFF2-40B4-BE49-F238E27FC236}">
                <a16:creationId xmlns:a16="http://schemas.microsoft.com/office/drawing/2014/main" id="{D161A4F9-BCED-7C4C-2838-E84404BD33BE}"/>
              </a:ext>
            </a:extLst>
          </p:cNvPr>
          <p:cNvSpPr>
            <a:spLocks noGrp="1"/>
          </p:cNvSpPr>
          <p:nvPr>
            <p:ph sz="quarter" idx="13"/>
          </p:nvPr>
        </p:nvSpPr>
        <p:spPr/>
        <p:txBody>
          <a:bodyPr>
            <a:normAutofit fontScale="47500" lnSpcReduction="20000"/>
          </a:bodyPr>
          <a:lstStyle/>
          <a:p>
            <a:r>
              <a:rPr lang="pt-BR" dirty="0"/>
              <a:t>Uma página web é simplesmente um documento que é renderizado ("mostrado") por um navegador. Tais documentos são escritos com uso da linguagem HTML (a qual iremos ver em maiores detalhes em outros artigos).</a:t>
            </a:r>
            <a:endParaRPr lang="pt-PT" dirty="0"/>
          </a:p>
          <a:p>
            <a:r>
              <a:rPr lang="pt-BR" dirty="0"/>
              <a:t>Web é uma palavra inglesa que significa teia ou rede. O significado de web ganhou outro sentido com o aparecimento da internet. A web passou a designar a rede que conecta computadores por todo mundo, a World </a:t>
            </a:r>
            <a:r>
              <a:rPr lang="pt-BR" dirty="0" err="1"/>
              <a:t>Wide</a:t>
            </a:r>
            <a:r>
              <a:rPr lang="pt-BR" dirty="0"/>
              <a:t> Web (WWW).</a:t>
            </a:r>
            <a:endParaRPr lang="pt-PT" dirty="0"/>
          </a:p>
          <a:p>
            <a:r>
              <a:rPr lang="pt-PT" dirty="0"/>
              <a:t>A </a:t>
            </a:r>
            <a:r>
              <a:rPr lang="pt-PT" b="1" dirty="0"/>
              <a:t>Web (World Wide Web)</a:t>
            </a:r>
            <a:r>
              <a:rPr lang="pt-PT" dirty="0"/>
              <a:t> é um sistema de informações e documentos interligados, acessíveis através da Internet, que permite aos utilizadores consultar páginas, visualizar imagens, assistir a vídeos, ler textos e partilhar informações por meio de navegadores, como o Google Chrome e o Mozilla Firefox.</a:t>
            </a:r>
          </a:p>
          <a:p>
            <a:r>
              <a:rPr lang="pt-PT" dirty="0"/>
              <a:t>A Web funciona através de tecnologias como o </a:t>
            </a:r>
            <a:r>
              <a:rPr lang="pt-PT" b="1" dirty="0"/>
              <a:t>HTML, HTTP e URLs</a:t>
            </a:r>
            <a:r>
              <a:rPr lang="pt-PT" dirty="0"/>
              <a:t>, que permitem criar, localizar e aceder a conteúdos disponíveis em diferentes sites.</a:t>
            </a:r>
          </a:p>
          <a:p>
            <a:r>
              <a:rPr lang="pt-PT" dirty="0"/>
              <a:t>A Web é constituída por páginas e sites interligados através de hiperligações (links), que permitem navegar de uma página para outra. Por meio de um navegador, como o Google Chrome, o Mozilla Firefox ou o Microsoft Edge, os utilizadores podem consultar textos, imagens, vídeos, documentos e outros conteúdos disponíveis na Internet.</a:t>
            </a:r>
          </a:p>
          <a:p>
            <a:r>
              <a:rPr lang="pt-PT" dirty="0"/>
              <a:t>A Web utiliza tecnologias como o HTML (</a:t>
            </a:r>
            <a:r>
              <a:rPr lang="pt-PT" i="1" dirty="0"/>
              <a:t>HyperText Markup Language</a:t>
            </a:r>
            <a:r>
              <a:rPr lang="pt-PT" dirty="0"/>
              <a:t>), que permite estruturar páginas Web, o HTTP (</a:t>
            </a:r>
            <a:r>
              <a:rPr lang="pt-PT" i="1" dirty="0"/>
              <a:t>HyperText Transfer Protocol</a:t>
            </a:r>
            <a:r>
              <a:rPr lang="pt-PT" dirty="0"/>
              <a:t>), que permite a comunicação entre navegadores e servidores, e os URLs (</a:t>
            </a:r>
            <a:r>
              <a:rPr lang="pt-PT" i="1" dirty="0"/>
              <a:t>Uniform Resource Locators</a:t>
            </a:r>
            <a:r>
              <a:rPr lang="pt-PT" dirty="0"/>
              <a:t>), que identificam os endereços dos recursos disponíveis na Web.</a:t>
            </a:r>
          </a:p>
          <a:p>
            <a:r>
              <a:rPr lang="pt-PT" b="1" dirty="0"/>
              <a:t>Importância da Web</a:t>
            </a:r>
            <a:endParaRPr lang="pt-PT" dirty="0"/>
          </a:p>
          <a:p>
            <a:r>
              <a:rPr lang="pt-PT" dirty="0"/>
              <a:t>A Web desempenha um papel fundamental na sociedade moderna, pois facilita o acesso à informação, a comunicação entre pessoas, a educação, a investigação científica, o comércio eletrónico e a realização de diversas atividades profissionais.</a:t>
            </a:r>
          </a:p>
          <a:p>
            <a:endParaRPr lang="pt-PT" dirty="0"/>
          </a:p>
        </p:txBody>
      </p:sp>
    </p:spTree>
    <p:extLst>
      <p:ext uri="{BB962C8B-B14F-4D97-AF65-F5344CB8AC3E}">
        <p14:creationId xmlns:p14="http://schemas.microsoft.com/office/powerpoint/2010/main" val="1505102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A6F50-7666-37B9-FF05-DDCD95EE93F1}"/>
              </a:ext>
            </a:extLst>
          </p:cNvPr>
          <p:cNvSpPr>
            <a:spLocks noGrp="1"/>
          </p:cNvSpPr>
          <p:nvPr>
            <p:ph type="title"/>
          </p:nvPr>
        </p:nvSpPr>
        <p:spPr/>
        <p:txBody>
          <a:bodyPr/>
          <a:lstStyle/>
          <a:p>
            <a:r>
              <a:rPr lang="pt-PT" b="1" dirty="0"/>
              <a:t>Principais utilizações da Web</a:t>
            </a:r>
            <a:br>
              <a:rPr lang="pt-PT" dirty="0"/>
            </a:br>
            <a:endParaRPr lang="pt-PT" dirty="0"/>
          </a:p>
        </p:txBody>
      </p:sp>
      <p:sp>
        <p:nvSpPr>
          <p:cNvPr id="3" name="Espaço Reservado para Conteúdo 2">
            <a:extLst>
              <a:ext uri="{FF2B5EF4-FFF2-40B4-BE49-F238E27FC236}">
                <a16:creationId xmlns:a16="http://schemas.microsoft.com/office/drawing/2014/main" id="{04185067-82EA-683F-4BC6-43964EA76451}"/>
              </a:ext>
            </a:extLst>
          </p:cNvPr>
          <p:cNvSpPr>
            <a:spLocks noGrp="1"/>
          </p:cNvSpPr>
          <p:nvPr>
            <p:ph sz="quarter" idx="13"/>
          </p:nvPr>
        </p:nvSpPr>
        <p:spPr/>
        <p:txBody>
          <a:bodyPr>
            <a:normAutofit fontScale="55000" lnSpcReduction="20000"/>
          </a:bodyPr>
          <a:lstStyle/>
          <a:p>
            <a:pPr lvl="0"/>
            <a:r>
              <a:rPr lang="pt-PT" b="1" dirty="0"/>
              <a:t>Educação:</a:t>
            </a:r>
            <a:r>
              <a:rPr lang="pt-PT" dirty="0"/>
              <a:t> permite pesquisar informações, frequentar cursos online e consultar materiais de estudo. </a:t>
            </a:r>
          </a:p>
          <a:p>
            <a:pPr lvl="0"/>
            <a:r>
              <a:rPr lang="pt-PT" b="1" dirty="0"/>
              <a:t>Comunicação:</a:t>
            </a:r>
            <a:r>
              <a:rPr lang="pt-PT" dirty="0"/>
              <a:t> facilita a troca de mensagens e a realização de videochamadas. </a:t>
            </a:r>
          </a:p>
          <a:p>
            <a:pPr lvl="0"/>
            <a:r>
              <a:rPr lang="pt-PT" b="1" dirty="0"/>
              <a:t>Comércio eletrónico:</a:t>
            </a:r>
            <a:r>
              <a:rPr lang="pt-PT" dirty="0"/>
              <a:t> possibilita a compra e venda de produtos e serviços pela Internet. </a:t>
            </a:r>
          </a:p>
          <a:p>
            <a:pPr lvl="0"/>
            <a:r>
              <a:rPr lang="pt-PT" b="1" dirty="0"/>
              <a:t>Entretenimento:</a:t>
            </a:r>
            <a:r>
              <a:rPr lang="pt-PT" dirty="0"/>
              <a:t> permite assistir a filmes, ouvir músicas e jogar online. </a:t>
            </a:r>
          </a:p>
          <a:p>
            <a:pPr lvl="0"/>
            <a:r>
              <a:rPr lang="pt-PT" b="1" dirty="0"/>
              <a:t>Investigação:</a:t>
            </a:r>
            <a:r>
              <a:rPr lang="pt-PT" dirty="0"/>
              <a:t> facilita o acesso a artigos científicos, livros digitais e outras fontes de conhecimento. </a:t>
            </a:r>
          </a:p>
          <a:p>
            <a:pPr lvl="0"/>
            <a:r>
              <a:rPr lang="pt-PT" b="1" dirty="0"/>
              <a:t>Trabalho:</a:t>
            </a:r>
            <a:r>
              <a:rPr lang="pt-PT" dirty="0"/>
              <a:t> permite realizar reuniões virtuais, partilhar documentos e desenvolver atividades profissionais. </a:t>
            </a:r>
          </a:p>
          <a:p>
            <a:pPr lvl="0"/>
            <a:r>
              <a:rPr lang="pt-PT" b="1" dirty="0"/>
              <a:t>Saúde:</a:t>
            </a:r>
            <a:r>
              <a:rPr lang="pt-PT" dirty="0"/>
              <a:t> possibilita consultar informações sobre doenças, medicamentos e cuidados de saúde em fontes especializadas.</a:t>
            </a:r>
          </a:p>
          <a:p>
            <a:pPr marL="0" indent="0">
              <a:buNone/>
            </a:pPr>
            <a:endParaRPr lang="pt-PT" dirty="0"/>
          </a:p>
          <a:p>
            <a:pPr marL="0" indent="0">
              <a:buNone/>
            </a:pPr>
            <a:r>
              <a:rPr lang="pt-BR" dirty="0"/>
              <a:t>A Web é uma das tecnologias mais importantes da atualidade, pois facilita o acesso à informação e contribui para o desenvolvimento da educação, da economia, da comunicação e da sociedade. A sua utilização permite que pessoas de diferentes partes do mundo partilhem conhecimentos e informações de forma rápida e acessível. No entanto, é importante utilizar a Web de maneira responsável, protegendo os dados pessoais e verificando a fiabilidade das informações consultadas.</a:t>
            </a:r>
            <a:endParaRPr lang="pt-PT" dirty="0"/>
          </a:p>
          <a:p>
            <a:endParaRPr lang="pt-PT" dirty="0"/>
          </a:p>
        </p:txBody>
      </p:sp>
    </p:spTree>
    <p:extLst>
      <p:ext uri="{BB962C8B-B14F-4D97-AF65-F5344CB8AC3E}">
        <p14:creationId xmlns:p14="http://schemas.microsoft.com/office/powerpoint/2010/main" val="1201172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D432EB-0718-C645-392F-14040B9D412D}"/>
              </a:ext>
            </a:extLst>
          </p:cNvPr>
          <p:cNvSpPr>
            <a:spLocks noGrp="1"/>
          </p:cNvSpPr>
          <p:nvPr>
            <p:ph type="title"/>
          </p:nvPr>
        </p:nvSpPr>
        <p:spPr/>
        <p:txBody>
          <a:bodyPr/>
          <a:lstStyle/>
          <a:p>
            <a:r>
              <a:rPr lang="pt-BR" b="1" dirty="0"/>
              <a:t>CONCEITO DE SITE</a:t>
            </a:r>
            <a:br>
              <a:rPr lang="pt-PT" b="1" dirty="0"/>
            </a:br>
            <a:endParaRPr lang="pt-PT" dirty="0"/>
          </a:p>
        </p:txBody>
      </p:sp>
      <p:sp>
        <p:nvSpPr>
          <p:cNvPr id="3" name="Espaço Reservado para Conteúdo 2">
            <a:extLst>
              <a:ext uri="{FF2B5EF4-FFF2-40B4-BE49-F238E27FC236}">
                <a16:creationId xmlns:a16="http://schemas.microsoft.com/office/drawing/2014/main" id="{AB2D2D0C-31BA-F486-09A1-05CAB33CEDEA}"/>
              </a:ext>
            </a:extLst>
          </p:cNvPr>
          <p:cNvSpPr>
            <a:spLocks noGrp="1"/>
          </p:cNvSpPr>
          <p:nvPr>
            <p:ph sz="quarter" idx="13"/>
          </p:nvPr>
        </p:nvSpPr>
        <p:spPr/>
        <p:txBody>
          <a:bodyPr/>
          <a:lstStyle/>
          <a:p>
            <a:r>
              <a:rPr lang="pt-BR" dirty="0"/>
              <a:t>Site é basicamente conhecido como um endereço eletrônico, um meio de comunicação que contém um conjunto de páginas web. Este endereço eletrônico fica acessível geralmente pelo protocolo HTTP na internet. Em sua maioria registra-se um domínio, o </a:t>
            </a:r>
            <a:r>
              <a:rPr lang="pt-BR" dirty="0" err="1"/>
              <a:t>www</a:t>
            </a:r>
            <a:r>
              <a:rPr lang="pt-BR" dirty="0"/>
              <a:t>, para que seu site tenha um nome. Exemplo: https://www.projetowebsite.com.br.Para acessar um site você deve digitar o endereço dele em um navegador ou browser (Google Chrome, Firefox, Internet Explorer, etc.…)</a:t>
            </a:r>
            <a:endParaRPr lang="pt-PT" dirty="0"/>
          </a:p>
          <a:p>
            <a:endParaRPr lang="pt-PT" dirty="0"/>
          </a:p>
        </p:txBody>
      </p:sp>
    </p:spTree>
    <p:extLst>
      <p:ext uri="{BB962C8B-B14F-4D97-AF65-F5344CB8AC3E}">
        <p14:creationId xmlns:p14="http://schemas.microsoft.com/office/powerpoint/2010/main" val="3738721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621A83-9D99-7DA8-29A6-6C280DB7D878}"/>
              </a:ext>
            </a:extLst>
          </p:cNvPr>
          <p:cNvSpPr>
            <a:spLocks noGrp="1"/>
          </p:cNvSpPr>
          <p:nvPr>
            <p:ph type="title"/>
          </p:nvPr>
        </p:nvSpPr>
        <p:spPr/>
        <p:txBody>
          <a:bodyPr/>
          <a:lstStyle/>
          <a:p>
            <a:r>
              <a:rPr lang="pt-BR" b="1" dirty="0"/>
              <a:t>CONCEITO DE HTML </a:t>
            </a:r>
            <a:br>
              <a:rPr lang="pt-PT" b="1" dirty="0"/>
            </a:br>
            <a:endParaRPr lang="pt-PT" dirty="0"/>
          </a:p>
        </p:txBody>
      </p:sp>
      <p:sp>
        <p:nvSpPr>
          <p:cNvPr id="3" name="Espaço Reservado para Conteúdo 2">
            <a:extLst>
              <a:ext uri="{FF2B5EF4-FFF2-40B4-BE49-F238E27FC236}">
                <a16:creationId xmlns:a16="http://schemas.microsoft.com/office/drawing/2014/main" id="{2003BC7B-503B-9F3F-901D-C0F6C8EF8729}"/>
              </a:ext>
            </a:extLst>
          </p:cNvPr>
          <p:cNvSpPr>
            <a:spLocks noGrp="1"/>
          </p:cNvSpPr>
          <p:nvPr>
            <p:ph sz="quarter" idx="13"/>
          </p:nvPr>
        </p:nvSpPr>
        <p:spPr/>
        <p:txBody>
          <a:bodyPr>
            <a:normAutofit fontScale="70000" lnSpcReduction="20000"/>
          </a:bodyPr>
          <a:lstStyle/>
          <a:p>
            <a:r>
              <a:rPr lang="pt-BR" dirty="0"/>
              <a:t>A sigla HTML significa Linguagem de Marcação de Hipertexto. Ou seja, o HTML não é considerado uma linguagem de programação. Ele indica onde cada elemento de texto estará estruturando e será mostrado no site ou aplicativo. O HTML é a linguagem de marcação mais usada no mercado. (Ricardo,2018). Antigamente os sites eram estáticos, mas graças ao HTML, eles passaram a ser interativos e muito mais próximos do que são hoje. Além de ser a linguagem de marcação mais usada, é também considerado padrão da internet, com certificação ISO. Os usos mais comuns de HTML são para o desenvolvimento web, navegação e documentação, muito semelhante ao que se faz no Word.</a:t>
            </a:r>
            <a:endParaRPr lang="pt-PT" dirty="0"/>
          </a:p>
          <a:p>
            <a:r>
              <a:rPr lang="pt-BR" dirty="0"/>
              <a:t>Qual é a função do HTML? A função do HTML é permitir que um navegador leia e traduza marcações de textos e outras mídias para uma página na web, permitindo que o usuário possa visualizar e interagir com essa página. Isso inclui vídeos, formulários, áudio e muito mais. (Ricardo,2018). Hospedagem e acesso O site precisa de um servidor para ser hospedado. Uma máquina específica tem essa função e quando o endereço do site é digitado (URL) o servidor que hospeda o site recebe uma mensagem e envia a página com os componentes que estão programados. (Ricardo,2018). Mecanismos de busca A forma mais comum de procurar algo na internet é por um mecanismo de busca, seja ele qual for. Os mecanismos de busca e as informações que ele apresenta como o título, por exemplo, são programados em HTML</a:t>
            </a:r>
            <a:endParaRPr lang="pt-PT" dirty="0"/>
          </a:p>
          <a:p>
            <a:endParaRPr lang="pt-PT" dirty="0"/>
          </a:p>
        </p:txBody>
      </p:sp>
    </p:spTree>
    <p:extLst>
      <p:ext uri="{BB962C8B-B14F-4D97-AF65-F5344CB8AC3E}">
        <p14:creationId xmlns:p14="http://schemas.microsoft.com/office/powerpoint/2010/main" val="1387124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70523-7C77-B6C4-EE42-8ABDC0B65C1A}"/>
              </a:ext>
            </a:extLst>
          </p:cNvPr>
          <p:cNvSpPr>
            <a:spLocks noGrp="1"/>
          </p:cNvSpPr>
          <p:nvPr>
            <p:ph type="title"/>
          </p:nvPr>
        </p:nvSpPr>
        <p:spPr/>
        <p:txBody>
          <a:bodyPr/>
          <a:lstStyle/>
          <a:p>
            <a:r>
              <a:rPr lang="pt-BR" b="1" dirty="0"/>
              <a:t>CONCEITO DE CSS </a:t>
            </a:r>
            <a:br>
              <a:rPr lang="pt-PT" b="1" dirty="0"/>
            </a:br>
            <a:endParaRPr lang="pt-PT" dirty="0"/>
          </a:p>
        </p:txBody>
      </p:sp>
      <p:sp>
        <p:nvSpPr>
          <p:cNvPr id="3" name="Espaço Reservado para Conteúdo 2">
            <a:extLst>
              <a:ext uri="{FF2B5EF4-FFF2-40B4-BE49-F238E27FC236}">
                <a16:creationId xmlns:a16="http://schemas.microsoft.com/office/drawing/2014/main" id="{EC192E5F-3023-4318-378E-E2BBBB391906}"/>
              </a:ext>
            </a:extLst>
          </p:cNvPr>
          <p:cNvSpPr>
            <a:spLocks noGrp="1"/>
          </p:cNvSpPr>
          <p:nvPr>
            <p:ph sz="quarter" idx="13"/>
          </p:nvPr>
        </p:nvSpPr>
        <p:spPr/>
        <p:txBody>
          <a:bodyPr/>
          <a:lstStyle/>
          <a:p>
            <a:r>
              <a:rPr lang="pt-BR" dirty="0"/>
              <a:t>CSS é uma linguagem de estilo, também conhecida como folhas de estilo em cascata. É usada 14 para personalização visual de um site. Ou seja, elas servem para otimizar o conteúdo das páginas e permitir uma apresentação mais amigável para o usuário. Por essa razão, o CSS complementa o HTML, que tem como função apenas a estruturação e marcação dos principais componentes das páginas. Nesse sentido, para entender CSS, é preciso saber HTML.</a:t>
            </a:r>
            <a:endParaRPr lang="pt-PT" dirty="0"/>
          </a:p>
          <a:p>
            <a:endParaRPr lang="pt-PT" dirty="0"/>
          </a:p>
        </p:txBody>
      </p:sp>
    </p:spTree>
    <p:extLst>
      <p:ext uri="{BB962C8B-B14F-4D97-AF65-F5344CB8AC3E}">
        <p14:creationId xmlns:p14="http://schemas.microsoft.com/office/powerpoint/2010/main" val="3165198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DF3D64-95DD-ECE3-8A62-914A40FF193F}"/>
              </a:ext>
            </a:extLst>
          </p:cNvPr>
          <p:cNvSpPr>
            <a:spLocks noGrp="1"/>
          </p:cNvSpPr>
          <p:nvPr>
            <p:ph type="title"/>
          </p:nvPr>
        </p:nvSpPr>
        <p:spPr/>
        <p:txBody>
          <a:bodyPr/>
          <a:lstStyle/>
          <a:p>
            <a:r>
              <a:rPr lang="pt-BR" b="1" dirty="0"/>
              <a:t>CONCEITO DE JAVASCRIPT</a:t>
            </a:r>
            <a:endParaRPr lang="pt-PT" dirty="0"/>
          </a:p>
        </p:txBody>
      </p:sp>
      <p:sp>
        <p:nvSpPr>
          <p:cNvPr id="3" name="Espaço Reservado para Conteúdo 2">
            <a:extLst>
              <a:ext uri="{FF2B5EF4-FFF2-40B4-BE49-F238E27FC236}">
                <a16:creationId xmlns:a16="http://schemas.microsoft.com/office/drawing/2014/main" id="{64F2868C-93FB-6BA7-1D42-F25F5EB6804C}"/>
              </a:ext>
            </a:extLst>
          </p:cNvPr>
          <p:cNvSpPr>
            <a:spLocks noGrp="1"/>
          </p:cNvSpPr>
          <p:nvPr>
            <p:ph sz="quarter" idx="13"/>
          </p:nvPr>
        </p:nvSpPr>
        <p:spPr/>
        <p:txBody>
          <a:bodyPr>
            <a:normAutofit fontScale="85000" lnSpcReduction="10000"/>
          </a:bodyPr>
          <a:lstStyle/>
          <a:p>
            <a:r>
              <a:rPr lang="pt-BR" dirty="0" err="1"/>
              <a:t>JavaScript</a:t>
            </a:r>
            <a:r>
              <a:rPr lang="pt-BR" dirty="0"/>
              <a:t> é uma linguagem de programação de scripts em que o código é implementado dentro da página Web e que é interpretado e executado do lado usuário, dentro dos navegadores Web. Dessa forma o </a:t>
            </a:r>
            <a:r>
              <a:rPr lang="pt-BR" dirty="0" err="1"/>
              <a:t>JavaScript</a:t>
            </a:r>
            <a:r>
              <a:rPr lang="pt-BR" dirty="0"/>
              <a:t> possibilita a implementação de um tratamento mais dinâmico do conteúdo das páginas, interagindo com a exibição do conteúdo definido no HTML e CSS, e permitindo transformação e processamento dos dados da página. A linguagem </a:t>
            </a:r>
            <a:r>
              <a:rPr lang="pt-BR" dirty="0" err="1"/>
              <a:t>JavaScript</a:t>
            </a:r>
            <a:r>
              <a:rPr lang="pt-BR" dirty="0"/>
              <a:t> é relativamente simples e foi desenvolvida para ser rápida e leve.</a:t>
            </a:r>
            <a:endParaRPr lang="pt-PT" dirty="0"/>
          </a:p>
          <a:p>
            <a:r>
              <a:rPr lang="pt-BR" dirty="0"/>
              <a:t> O </a:t>
            </a:r>
            <a:r>
              <a:rPr lang="pt-BR" dirty="0" err="1"/>
              <a:t>JavaScript</a:t>
            </a:r>
            <a:r>
              <a:rPr lang="pt-BR" dirty="0"/>
              <a:t> normalmente é utilizado para a criação de pequenos efeitos visuais na página como elementos com movimento, que mudam de cor e tamanho conforme a posição do mouse ou da tela, como se muito nos menus deslizantes. Permite também a implementação de lógicas de validação de conteúdos inseridos pelo usuário, por exemplo a validação data, CPF e telefone em um formulário, além de várias outras possibilidades inclusive bem mais complexas.</a:t>
            </a:r>
            <a:endParaRPr lang="pt-PT" dirty="0"/>
          </a:p>
        </p:txBody>
      </p:sp>
    </p:spTree>
    <p:extLst>
      <p:ext uri="{BB962C8B-B14F-4D97-AF65-F5344CB8AC3E}">
        <p14:creationId xmlns:p14="http://schemas.microsoft.com/office/powerpoint/2010/main" val="3121253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BF095D-5B3B-0D2D-8673-1DFB2CDB77D1}"/>
              </a:ext>
            </a:extLst>
          </p:cNvPr>
          <p:cNvSpPr>
            <a:spLocks noGrp="1"/>
          </p:cNvSpPr>
          <p:nvPr>
            <p:ph type="title"/>
          </p:nvPr>
        </p:nvSpPr>
        <p:spPr/>
        <p:txBody>
          <a:bodyPr/>
          <a:lstStyle/>
          <a:p>
            <a:r>
              <a:rPr lang="pt-BR" b="1" dirty="0"/>
              <a:t>CONCEITO DE PHP</a:t>
            </a:r>
            <a:br>
              <a:rPr lang="pt-PT" b="1" dirty="0"/>
            </a:br>
            <a:endParaRPr lang="pt-PT" dirty="0"/>
          </a:p>
        </p:txBody>
      </p:sp>
      <p:sp>
        <p:nvSpPr>
          <p:cNvPr id="3" name="Espaço Reservado para Conteúdo 2">
            <a:extLst>
              <a:ext uri="{FF2B5EF4-FFF2-40B4-BE49-F238E27FC236}">
                <a16:creationId xmlns:a16="http://schemas.microsoft.com/office/drawing/2014/main" id="{327B8104-CCCB-ACE7-57A7-B842A411A486}"/>
              </a:ext>
            </a:extLst>
          </p:cNvPr>
          <p:cNvSpPr>
            <a:spLocks noGrp="1"/>
          </p:cNvSpPr>
          <p:nvPr>
            <p:ph sz="quarter" idx="13"/>
          </p:nvPr>
        </p:nvSpPr>
        <p:spPr/>
        <p:txBody>
          <a:bodyPr>
            <a:normAutofit fontScale="55000" lnSpcReduction="20000"/>
          </a:bodyPr>
          <a:lstStyle/>
          <a:p>
            <a:r>
              <a:rPr lang="pt-BR" dirty="0"/>
              <a:t>PHP significa PHP: Hypertext </a:t>
            </a:r>
            <a:r>
              <a:rPr lang="pt-BR" dirty="0" err="1"/>
              <a:t>Preprocessor</a:t>
            </a:r>
            <a:r>
              <a:rPr lang="pt-BR" dirty="0"/>
              <a:t>, ou seja, PHP: </a:t>
            </a:r>
            <a:r>
              <a:rPr lang="pt-BR" dirty="0" err="1"/>
              <a:t>Preprocessador</a:t>
            </a:r>
            <a:r>
              <a:rPr lang="pt-BR" dirty="0"/>
              <a:t> de </a:t>
            </a:r>
            <a:r>
              <a:rPr lang="pt-BR" dirty="0" err="1"/>
              <a:t>Hypertexto</a:t>
            </a:r>
            <a:r>
              <a:rPr lang="pt-BR" dirty="0"/>
              <a:t>. Originalmente significava Personal Home Page (Página Inicial Pessoal). É uma linguagem de script uso geral, muito utilizada, e especialmente adequada para o desenvolvimento web e que pode ser embutida dentro do HTML. O PHP é uma linguagem de programação de código aberto, ou seja, de uso livre, gratuito. Com ele, é possível escrever pequenos scripts de forma procedural, ou ainda utilizar orientado a objetos, ou ambos. Portanto, com ela, é possível realizar a criação de sites dinâmicos, extensões para aplicativos e otimizar programas e sistemas operacionais. Esta linguagem conversa muito bem com o HTML, por isso é muito comum sua utilização para o desenvolvimento WEB. É Possível mesclar código HTML com código PHP em um mesmo documento de forma simples e fácil. Porém, diferente do HTML, ela atua diretamente do lado do servidor, ou seja, é uma linguagem de “Desenvolvimento Back-</a:t>
            </a:r>
            <a:r>
              <a:rPr lang="pt-BR" dirty="0" err="1"/>
              <a:t>End</a:t>
            </a:r>
            <a:r>
              <a:rPr lang="pt-BR" dirty="0"/>
              <a:t>”. É uma linguagem simples e de fácil aprendizado, mas que também possuem recursos avançados para programadores mais experientes. Possui uma comunidade bastante ativa e uma boa documentação. Portanto é muito utilizada para o desenvolvimento Web. Também possui diversos Frameworks e bibliotecas. Ainda é uma linguagem extremamente rápida e que está sendo sempre atualizada.</a:t>
            </a:r>
            <a:endParaRPr lang="pt-PT" dirty="0"/>
          </a:p>
          <a:p>
            <a:r>
              <a:rPr lang="pt-BR" dirty="0"/>
              <a:t> </a:t>
            </a:r>
            <a:r>
              <a:rPr lang="pt-BR" b="1" dirty="0"/>
              <a:t>Como funciona o PHP </a:t>
            </a:r>
            <a:endParaRPr lang="pt-PT" dirty="0"/>
          </a:p>
          <a:p>
            <a:r>
              <a:rPr lang="pt-BR" dirty="0"/>
              <a:t>O PHP é quase sempre utilizado em parceria com o HTML, outra linguagem de computação (não de programação). O HTML é utilizado para marcação de blocos estáticos para compor sua página na internet. Você pode aprender mais sobre o HTML em nosso artigo. Porém, o HTML renderiza através do lado do cliente. Já o PHP realiza a </a:t>
            </a:r>
            <a:r>
              <a:rPr lang="pt-BR" dirty="0" err="1"/>
              <a:t>a</a:t>
            </a:r>
            <a:r>
              <a:rPr lang="pt-BR" dirty="0"/>
              <a:t> conexão com o HTML 15 através de scripts que são interpretados e executados do lado do servidor. Ou seja, se um usuário quer acessar uma página da web, o PHP é executado do lado do servidor. </a:t>
            </a:r>
            <a:endParaRPr lang="pt-PT" dirty="0"/>
          </a:p>
          <a:p>
            <a:endParaRPr lang="pt-PT" dirty="0"/>
          </a:p>
        </p:txBody>
      </p:sp>
    </p:spTree>
    <p:extLst>
      <p:ext uri="{BB962C8B-B14F-4D97-AF65-F5344CB8AC3E}">
        <p14:creationId xmlns:p14="http://schemas.microsoft.com/office/powerpoint/2010/main" val="3864953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5F3582-3D61-4E87-7766-E1523D787BDC}"/>
              </a:ext>
            </a:extLst>
          </p:cNvPr>
          <p:cNvSpPr>
            <a:spLocks noGrp="1"/>
          </p:cNvSpPr>
          <p:nvPr>
            <p:ph type="title"/>
          </p:nvPr>
        </p:nvSpPr>
        <p:spPr/>
        <p:txBody>
          <a:bodyPr/>
          <a:lstStyle/>
          <a:p>
            <a:r>
              <a:rPr lang="pt-BR" b="1" dirty="0"/>
              <a:t>CONCEITO DE MYSQL</a:t>
            </a:r>
            <a:br>
              <a:rPr lang="pt-PT" b="1" dirty="0"/>
            </a:br>
            <a:endParaRPr lang="pt-PT" dirty="0"/>
          </a:p>
        </p:txBody>
      </p:sp>
      <p:sp>
        <p:nvSpPr>
          <p:cNvPr id="3" name="Espaço Reservado para Conteúdo 2">
            <a:extLst>
              <a:ext uri="{FF2B5EF4-FFF2-40B4-BE49-F238E27FC236}">
                <a16:creationId xmlns:a16="http://schemas.microsoft.com/office/drawing/2014/main" id="{E072D6AC-ECC7-EF38-79A8-2BFA907E1F18}"/>
              </a:ext>
            </a:extLst>
          </p:cNvPr>
          <p:cNvSpPr>
            <a:spLocks noGrp="1"/>
          </p:cNvSpPr>
          <p:nvPr>
            <p:ph sz="quarter" idx="13"/>
          </p:nvPr>
        </p:nvSpPr>
        <p:spPr/>
        <p:txBody>
          <a:bodyPr>
            <a:normAutofit fontScale="55000" lnSpcReduction="20000"/>
          </a:bodyPr>
          <a:lstStyle/>
          <a:p>
            <a:r>
              <a:rPr lang="pt-BR" dirty="0"/>
              <a:t>MySQL é um sistema de gerenciamento de banco de dados (SGBD), gratuito e livre. Criado inicialmente em 1995, foi sofrendo evoluções com o tempo, e atualmente é a plataforma mais utilizada no mundo. Trata-se de um serviço estável, seguro e confiável. Uma ferramenta bastante poderosa. O MySQL foi criado por David </a:t>
            </a:r>
            <a:r>
              <a:rPr lang="pt-BR" dirty="0" err="1"/>
              <a:t>Axmark</a:t>
            </a:r>
            <a:r>
              <a:rPr lang="pt-BR" dirty="0"/>
              <a:t> e Michael </a:t>
            </a:r>
            <a:r>
              <a:rPr lang="pt-BR" dirty="0" err="1"/>
              <a:t>Widenius</a:t>
            </a:r>
            <a:r>
              <a:rPr lang="pt-BR" dirty="0"/>
              <a:t>, dois engenheiros da Suécia. Uma pergunta frequente dos nossos clientes é o que é </a:t>
            </a:r>
            <a:r>
              <a:rPr lang="pt-BR" dirty="0" err="1"/>
              <a:t>mysql</a:t>
            </a:r>
            <a:r>
              <a:rPr lang="pt-BR" dirty="0"/>
              <a:t>, e para que ele serve. </a:t>
            </a:r>
            <a:endParaRPr lang="pt-PT" dirty="0"/>
          </a:p>
          <a:p>
            <a:r>
              <a:rPr lang="pt-BR" dirty="0"/>
              <a:t>Basicamente, temos a seguinte hierarquia: Em primeiro, temos o sistema de gestão MySQL. Em segundo lugar, temos os bancos de dados. E em terceiro lugar, temos as tabelas de dados. As tabelas de dados armazenam, por exemplo, um cadastro dos clientes. Nome, telefone, </a:t>
            </a:r>
            <a:r>
              <a:rPr lang="pt-BR" dirty="0" err="1"/>
              <a:t>email</a:t>
            </a:r>
            <a:r>
              <a:rPr lang="pt-BR" dirty="0"/>
              <a:t>, etc. Ou então, armazenam uma lista de produtos de uma loja virtual. Produto, preço, cor, etc. (Um banco de dados contem um conjunto de tabelas dentro dele. O banco de dados possui atributos de segurança, controle de acesso, funções de backup, entre outros. </a:t>
            </a:r>
            <a:endParaRPr lang="pt-PT" dirty="0"/>
          </a:p>
          <a:p>
            <a:r>
              <a:rPr lang="pt-BR" dirty="0"/>
              <a:t>Por sua vez, o sistema de gestão (MySQL), controla todos os bancos de dados. Também, ele controla toda comunicação externa com outros servidores que realizam consultas e operações com os dados. </a:t>
            </a:r>
            <a:endParaRPr lang="pt-PT" dirty="0"/>
          </a:p>
          <a:p>
            <a:r>
              <a:rPr lang="pt-BR" dirty="0"/>
              <a:t>O MySQL faz uso de SQL (</a:t>
            </a:r>
            <a:r>
              <a:rPr lang="pt-BR" dirty="0" err="1"/>
              <a:t>Structured</a:t>
            </a:r>
            <a:r>
              <a:rPr lang="pt-BR" dirty="0"/>
              <a:t> Query </a:t>
            </a:r>
            <a:r>
              <a:rPr lang="pt-BR" dirty="0" err="1"/>
              <a:t>Language</a:t>
            </a:r>
            <a:r>
              <a:rPr lang="pt-BR" dirty="0"/>
              <a:t>). Trata-se de uma linguagem universal para consultas e operações em banco de dados. A estrutura de SQL é bastante parecida entre os bancos de dados mais comuns (MySQL, SQL Server, Oracle, </a:t>
            </a:r>
            <a:r>
              <a:rPr lang="pt-BR" dirty="0" err="1"/>
              <a:t>Postgree</a:t>
            </a:r>
            <a:r>
              <a:rPr lang="pt-BR" dirty="0"/>
              <a:t>). Afinal, o que é </a:t>
            </a:r>
            <a:r>
              <a:rPr lang="pt-BR" dirty="0" err="1"/>
              <a:t>mysql</a:t>
            </a:r>
            <a:r>
              <a:rPr lang="pt-BR" dirty="0"/>
              <a:t> e o que posso fazer com ele ? A resposta é: ele serve para armazenar os dados de seu site ou sua empresa, de forma segura e organizada.</a:t>
            </a:r>
            <a:endParaRPr lang="pt-PT" dirty="0"/>
          </a:p>
          <a:p>
            <a:endParaRPr lang="pt-PT" dirty="0"/>
          </a:p>
        </p:txBody>
      </p:sp>
    </p:spTree>
    <p:extLst>
      <p:ext uri="{BB962C8B-B14F-4D97-AF65-F5344CB8AC3E}">
        <p14:creationId xmlns:p14="http://schemas.microsoft.com/office/powerpoint/2010/main" val="1855929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E1DAA2-5FEE-D4CC-AE36-97DBC2A7C0F0}"/>
              </a:ext>
            </a:extLst>
          </p:cNvPr>
          <p:cNvSpPr>
            <a:spLocks noGrp="1"/>
          </p:cNvSpPr>
          <p:nvPr>
            <p:ph type="title"/>
          </p:nvPr>
        </p:nvSpPr>
        <p:spPr/>
        <p:txBody>
          <a:bodyPr/>
          <a:lstStyle/>
          <a:p>
            <a:r>
              <a:rPr lang="pt-BR" b="1" dirty="0"/>
              <a:t>Visual Studio </a:t>
            </a:r>
            <a:r>
              <a:rPr lang="pt-BR" b="1" dirty="0" err="1"/>
              <a:t>Code</a:t>
            </a:r>
            <a:br>
              <a:rPr lang="pt-PT" dirty="0"/>
            </a:br>
            <a:endParaRPr lang="pt-PT" dirty="0"/>
          </a:p>
        </p:txBody>
      </p:sp>
      <p:sp>
        <p:nvSpPr>
          <p:cNvPr id="3" name="Espaço Reservado para Conteúdo 2">
            <a:extLst>
              <a:ext uri="{FF2B5EF4-FFF2-40B4-BE49-F238E27FC236}">
                <a16:creationId xmlns:a16="http://schemas.microsoft.com/office/drawing/2014/main" id="{5069B214-449F-EDF8-D62F-6176F4D802E4}"/>
              </a:ext>
            </a:extLst>
          </p:cNvPr>
          <p:cNvSpPr>
            <a:spLocks noGrp="1"/>
          </p:cNvSpPr>
          <p:nvPr>
            <p:ph sz="quarter" idx="13"/>
          </p:nvPr>
        </p:nvSpPr>
        <p:spPr/>
        <p:txBody>
          <a:bodyPr>
            <a:normAutofit fontScale="55000" lnSpcReduction="20000"/>
          </a:bodyPr>
          <a:lstStyle/>
          <a:p>
            <a:r>
              <a:rPr lang="pt-BR" dirty="0"/>
              <a:t>será utilizado como ambiente de desenvolvimento para escrever, editar e organizar o código-fonte do projeto.</a:t>
            </a:r>
            <a:endParaRPr lang="pt-PT" dirty="0"/>
          </a:p>
          <a:p>
            <a:r>
              <a:rPr lang="pt-PT" dirty="0"/>
              <a:t>O Visual Studio Code é um editor de código-fonte desenvolvido pela Microsoft, utilizado na criação e edição de programas e aplicações. É uma ferramenta gratuita que suporta diversas linguagens de programação, incluindo HTML, CSS, JavaScript e PHP.</a:t>
            </a:r>
          </a:p>
          <a:p>
            <a:r>
              <a:rPr lang="pt-PT" dirty="0"/>
              <a:t>O VS Code possui uma interface simples e intuitiva, permitindo aos programadores escrever, editar, organizar e analisar o código de forma eficiente. Além disso, disponibiliza funcionalidades como realce da sintaxe, sugestões automáticas de código, identificação de erros e extensões que permitem adicionar novas ferramentas ao ambiente de desenvolvimento.</a:t>
            </a:r>
          </a:p>
          <a:p>
            <a:r>
              <a:rPr lang="pt-PT" b="1" dirty="0"/>
              <a:t>Principais vantagens do VS Code:</a:t>
            </a:r>
            <a:endParaRPr lang="pt-PT" dirty="0"/>
          </a:p>
          <a:p>
            <a:pPr lvl="0"/>
            <a:r>
              <a:rPr lang="pt-PT" dirty="0"/>
              <a:t>É gratuito e fácil de instalar. </a:t>
            </a:r>
          </a:p>
          <a:p>
            <a:pPr lvl="0"/>
            <a:r>
              <a:rPr lang="pt-PT" dirty="0"/>
              <a:t>Suporta várias linguagens de programação. </a:t>
            </a:r>
          </a:p>
          <a:p>
            <a:pPr lvl="0"/>
            <a:r>
              <a:rPr lang="pt-PT" dirty="0"/>
              <a:t>Permite instalar extensões para adicionar funcionalidades. </a:t>
            </a:r>
          </a:p>
          <a:p>
            <a:pPr lvl="0"/>
            <a:r>
              <a:rPr lang="pt-PT" dirty="0"/>
              <a:t>Facilita a identificação e correção de erros no código. </a:t>
            </a:r>
          </a:p>
          <a:p>
            <a:pPr lvl="0"/>
            <a:r>
              <a:rPr lang="pt-PT" dirty="0"/>
              <a:t>Permite organizar os ficheiros e as pastas do projeto.</a:t>
            </a:r>
          </a:p>
          <a:p>
            <a:endParaRPr lang="pt-PT" dirty="0"/>
          </a:p>
        </p:txBody>
      </p:sp>
    </p:spTree>
    <p:extLst>
      <p:ext uri="{BB962C8B-B14F-4D97-AF65-F5344CB8AC3E}">
        <p14:creationId xmlns:p14="http://schemas.microsoft.com/office/powerpoint/2010/main" val="4046776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A08511-916C-9D89-B452-3DB6545A0F0B}"/>
              </a:ext>
            </a:extLst>
          </p:cNvPr>
          <p:cNvSpPr>
            <a:spLocks noGrp="1"/>
          </p:cNvSpPr>
          <p:nvPr>
            <p:ph type="title"/>
          </p:nvPr>
        </p:nvSpPr>
        <p:spPr/>
        <p:txBody>
          <a:bodyPr/>
          <a:lstStyle/>
          <a:p>
            <a:r>
              <a:rPr lang="pt-BR" b="1" dirty="0"/>
              <a:t>XAMPP</a:t>
            </a:r>
            <a:br>
              <a:rPr lang="pt-PT" dirty="0"/>
            </a:br>
            <a:endParaRPr lang="pt-PT" dirty="0"/>
          </a:p>
        </p:txBody>
      </p:sp>
      <p:sp>
        <p:nvSpPr>
          <p:cNvPr id="3" name="Espaço Reservado para Conteúdo 2">
            <a:extLst>
              <a:ext uri="{FF2B5EF4-FFF2-40B4-BE49-F238E27FC236}">
                <a16:creationId xmlns:a16="http://schemas.microsoft.com/office/drawing/2014/main" id="{6D65DA98-8C24-ABAE-F037-52ACA49A49A1}"/>
              </a:ext>
            </a:extLst>
          </p:cNvPr>
          <p:cNvSpPr>
            <a:spLocks noGrp="1"/>
          </p:cNvSpPr>
          <p:nvPr>
            <p:ph sz="quarter" idx="13"/>
          </p:nvPr>
        </p:nvSpPr>
        <p:spPr/>
        <p:txBody>
          <a:bodyPr>
            <a:normAutofit fontScale="55000" lnSpcReduction="20000"/>
          </a:bodyPr>
          <a:lstStyle/>
          <a:p>
            <a:r>
              <a:rPr lang="pt-BR" dirty="0"/>
              <a:t>Poderá ser utilizado para criar um ambiente de desenvolvimento local, permitindo executar o PHP e o MySQL durante a construção e os testes do site.</a:t>
            </a:r>
            <a:endParaRPr lang="pt-PT" dirty="0"/>
          </a:p>
          <a:p>
            <a:r>
              <a:rPr lang="pt-PT" dirty="0"/>
              <a:t>O XAMPP é um pacote de software gratuito e de código aberto que permite criar um ambiente de desenvolvimento web no computador.</a:t>
            </a:r>
          </a:p>
          <a:p>
            <a:r>
              <a:rPr lang="pt-PT" dirty="0"/>
              <a:t>O Apache funciona como servidor web, recebendo e processando pedidos feitos pelo navegador. O MariaDB é um sistema de gestão de bases de dados relacionais utilizado para armazenar e organizar informações.</a:t>
            </a:r>
          </a:p>
          <a:p>
            <a:r>
              <a:rPr lang="pt-PT" dirty="0"/>
              <a:t>O XAMPP facilita o desenvolvimento e os testes de sites localmente, sem que seja necessário publicar imediatamente o projeto na internet.</a:t>
            </a:r>
          </a:p>
          <a:p>
            <a:r>
              <a:rPr lang="pt-PT" b="1" dirty="0"/>
              <a:t>Principais vantagens do XAMPP:</a:t>
            </a:r>
            <a:endParaRPr lang="pt-PT" dirty="0"/>
          </a:p>
          <a:p>
            <a:pPr lvl="0"/>
            <a:r>
              <a:rPr lang="pt-PT" dirty="0"/>
              <a:t>Facilita a instalação de um ambiente de desenvolvimento web. </a:t>
            </a:r>
          </a:p>
          <a:p>
            <a:pPr lvl="0"/>
            <a:r>
              <a:rPr lang="pt-PT" dirty="0"/>
              <a:t>Permite testar sites diretamente no computador. </a:t>
            </a:r>
          </a:p>
          <a:p>
            <a:pPr lvl="0"/>
            <a:r>
              <a:rPr lang="pt-PT" dirty="0"/>
              <a:t>Integra ferramentas necessárias para executar aplicações PHP. </a:t>
            </a:r>
          </a:p>
          <a:p>
            <a:pPr lvl="0"/>
            <a:r>
              <a:rPr lang="pt-PT" dirty="0"/>
              <a:t>Permite utilizar bases de dados para armazenar informações. </a:t>
            </a:r>
          </a:p>
          <a:p>
            <a:pPr lvl="0"/>
            <a:r>
              <a:rPr lang="pt-PT" dirty="0"/>
              <a:t>Facilita a deteção e a correção de erros antes da publicação do site.</a:t>
            </a:r>
          </a:p>
          <a:p>
            <a:endParaRPr lang="pt-PT" dirty="0"/>
          </a:p>
        </p:txBody>
      </p:sp>
    </p:spTree>
    <p:extLst>
      <p:ext uri="{BB962C8B-B14F-4D97-AF65-F5344CB8AC3E}">
        <p14:creationId xmlns:p14="http://schemas.microsoft.com/office/powerpoint/2010/main" val="615702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3DC237-7446-1DC3-FB2C-8BAB36A82488}"/>
              </a:ext>
            </a:extLst>
          </p:cNvPr>
          <p:cNvSpPr>
            <a:spLocks noGrp="1"/>
          </p:cNvSpPr>
          <p:nvPr>
            <p:ph type="title"/>
          </p:nvPr>
        </p:nvSpPr>
        <p:spPr/>
        <p:txBody>
          <a:bodyPr/>
          <a:lstStyle/>
          <a:p>
            <a:r>
              <a:rPr lang="pt-PT" b="1" dirty="0"/>
              <a:t>Conceito de GitHub</a:t>
            </a:r>
            <a:br>
              <a:rPr lang="pt-PT" dirty="0"/>
            </a:br>
            <a:endParaRPr lang="pt-PT" dirty="0"/>
          </a:p>
        </p:txBody>
      </p:sp>
      <p:sp>
        <p:nvSpPr>
          <p:cNvPr id="3" name="Espaço Reservado para Conteúdo 2">
            <a:extLst>
              <a:ext uri="{FF2B5EF4-FFF2-40B4-BE49-F238E27FC236}">
                <a16:creationId xmlns:a16="http://schemas.microsoft.com/office/drawing/2014/main" id="{FBC08104-1525-BA63-8A33-DCA38EEE6713}"/>
              </a:ext>
            </a:extLst>
          </p:cNvPr>
          <p:cNvSpPr>
            <a:spLocks noGrp="1"/>
          </p:cNvSpPr>
          <p:nvPr>
            <p:ph sz="quarter" idx="13"/>
          </p:nvPr>
        </p:nvSpPr>
        <p:spPr/>
        <p:txBody>
          <a:bodyPr>
            <a:normAutofit fontScale="70000" lnSpcReduction="20000"/>
          </a:bodyPr>
          <a:lstStyle/>
          <a:p>
            <a:r>
              <a:rPr lang="pt-PT" dirty="0"/>
              <a:t>O </a:t>
            </a:r>
            <a:r>
              <a:rPr lang="pt-PT" b="1" dirty="0"/>
              <a:t>GitHub</a:t>
            </a:r>
            <a:r>
              <a:rPr lang="pt-PT" dirty="0"/>
              <a:t> é uma plataforma online utilizada para armazenar, organizar, partilhar e gerir projetos de programação. Permite que programadores e outros utilizadores guardem os seus códigos, acompanhem as alterações realizadas nos projetos e trabalhem em equipa, mesmo estando em locais diferentes.</a:t>
            </a:r>
          </a:p>
          <a:p>
            <a:r>
              <a:rPr lang="pt-PT" dirty="0"/>
              <a:t>O GitHub utiliza o </a:t>
            </a:r>
            <a:r>
              <a:rPr lang="pt-PT" b="1" dirty="0"/>
              <a:t>Git</a:t>
            </a:r>
            <a:r>
              <a:rPr lang="pt-PT" dirty="0"/>
              <a:t>, um sistema de controlo de versões que permite registar as alterações feitas nos ficheiros de um projeto, recuperar versões anteriores e acompanhar a evolução do trabalho.</a:t>
            </a:r>
          </a:p>
          <a:p>
            <a:r>
              <a:rPr lang="pt-PT" dirty="0"/>
              <a:t>A plataforma é muito utilizada por programadores, estudantes, empresas e investigadores para desenvolver aplicações, criar sites, partilhar conhecimentos e colaborar em projetos tecnológicos.</a:t>
            </a:r>
          </a:p>
          <a:p>
            <a:r>
              <a:rPr lang="pt-PT" dirty="0"/>
              <a:t>Conclui-se que o GitHub é uma plataforma importante para o desenvolvimento de software, pois permite armazenar códigos, controlar alterações, partilhar projetos e colaborar com outros utilizadores. A sua integração com o Git facilita a organização e o acompanhamento dos projetos informáticos.</a:t>
            </a:r>
          </a:p>
          <a:p>
            <a:r>
              <a:rPr lang="pt-PT" dirty="0"/>
              <a:t>Desta forma, o GitHub tornou-se uma ferramenta relevante para estudantes, programadores e empresas, contribuindo para a aprendizagem, a inovação e o desenvolvimento de soluções tecnológicas.</a:t>
            </a:r>
          </a:p>
          <a:p>
            <a:endParaRPr lang="pt-PT" dirty="0"/>
          </a:p>
        </p:txBody>
      </p:sp>
    </p:spTree>
    <p:extLst>
      <p:ext uri="{BB962C8B-B14F-4D97-AF65-F5344CB8AC3E}">
        <p14:creationId xmlns:p14="http://schemas.microsoft.com/office/powerpoint/2010/main" val="4089903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A0B6FB-CDAC-D33B-E85C-C8726F3EB906}"/>
              </a:ext>
            </a:extLst>
          </p:cNvPr>
          <p:cNvSpPr>
            <a:spLocks noGrp="1"/>
          </p:cNvSpPr>
          <p:nvPr>
            <p:ph type="title"/>
          </p:nvPr>
        </p:nvSpPr>
        <p:spPr/>
        <p:txBody>
          <a:bodyPr/>
          <a:lstStyle/>
          <a:p>
            <a:r>
              <a:rPr lang="pt-PT" b="1" dirty="0"/>
              <a:t>Conceito de PowerPoint</a:t>
            </a:r>
            <a:br>
              <a:rPr lang="pt-PT" dirty="0"/>
            </a:br>
            <a:endParaRPr lang="pt-PT" dirty="0"/>
          </a:p>
        </p:txBody>
      </p:sp>
      <p:sp>
        <p:nvSpPr>
          <p:cNvPr id="3" name="Espaço Reservado para Conteúdo 2">
            <a:extLst>
              <a:ext uri="{FF2B5EF4-FFF2-40B4-BE49-F238E27FC236}">
                <a16:creationId xmlns:a16="http://schemas.microsoft.com/office/drawing/2014/main" id="{72759EE4-6763-B1BC-856E-B95B9A8C33C0}"/>
              </a:ext>
            </a:extLst>
          </p:cNvPr>
          <p:cNvSpPr>
            <a:spLocks noGrp="1"/>
          </p:cNvSpPr>
          <p:nvPr>
            <p:ph sz="quarter" idx="13"/>
          </p:nvPr>
        </p:nvSpPr>
        <p:spPr/>
        <p:txBody>
          <a:bodyPr>
            <a:normAutofit fontScale="70000" lnSpcReduction="20000"/>
          </a:bodyPr>
          <a:lstStyle/>
          <a:p>
            <a:r>
              <a:rPr lang="pt-PT" dirty="0"/>
              <a:t>O </a:t>
            </a:r>
            <a:r>
              <a:rPr lang="pt-PT" b="1" dirty="0"/>
              <a:t>Microsoft PowerPoint</a:t>
            </a:r>
            <a:r>
              <a:rPr lang="pt-PT" dirty="0"/>
              <a:t> é um programa informático desenvolvido pela Microsoft, utilizado para criar, editar e apresentar informações por meio de diapositivos (slides). Este programa permite combinar textos, imagens, gráficos, tabelas, vídeos, áudios, animações e outros elementos visuais para transmitir informações de forma clara, organizada e atrativa.</a:t>
            </a:r>
          </a:p>
          <a:p>
            <a:r>
              <a:rPr lang="pt-PT" dirty="0"/>
              <a:t>O PowerPoint faz parte do conjunto de ferramentas de produtividade Microsoft 365 e é amplamente utilizado em escolas, universidades, empresas e outras instituições para apresentar trabalhos académicos, projetos, relatórios e informações profissionais.</a:t>
            </a:r>
          </a:p>
          <a:p>
            <a:r>
              <a:rPr lang="pt-PT" dirty="0"/>
              <a:t>O Microsoft PowerPoint é uma ferramenta informática importante para a criação e apresentação de informações. Através das suas funcionalidades, é possível organizar conteúdos, inserir elementos multimédia e transmitir ideias de forma clara e atrativa.</a:t>
            </a:r>
          </a:p>
          <a:p>
            <a:r>
              <a:rPr lang="pt-PT" dirty="0"/>
              <a:t>A sua utilização é especialmente relevante nos contextos educativo, empresarial e profissional, pois facilita a comunicação e a partilha de conhecimentos. No entanto, para obter bons resultados, é importante elaborar apresentações simples, organizadas e visualmente equilibradas, evitando o excesso de texto e de efeitos visuais.</a:t>
            </a:r>
          </a:p>
          <a:p>
            <a:pPr marL="0" indent="0">
              <a:buNone/>
            </a:pPr>
            <a:endParaRPr lang="pt-PT" dirty="0"/>
          </a:p>
        </p:txBody>
      </p:sp>
    </p:spTree>
    <p:extLst>
      <p:ext uri="{BB962C8B-B14F-4D97-AF65-F5344CB8AC3E}">
        <p14:creationId xmlns:p14="http://schemas.microsoft.com/office/powerpoint/2010/main" val="1849379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E87E9-E5DD-E856-854A-8E1F5D409848}"/>
              </a:ext>
            </a:extLst>
          </p:cNvPr>
          <p:cNvSpPr>
            <a:spLocks noGrp="1"/>
          </p:cNvSpPr>
          <p:nvPr>
            <p:ph type="title"/>
          </p:nvPr>
        </p:nvSpPr>
        <p:spPr/>
        <p:txBody>
          <a:bodyPr/>
          <a:lstStyle/>
          <a:p>
            <a:r>
              <a:rPr lang="pt-BR" b="1" dirty="0"/>
              <a:t>CONCLUSÃO</a:t>
            </a:r>
            <a:br>
              <a:rPr lang="pt-PT" dirty="0"/>
            </a:br>
            <a:endParaRPr lang="pt-PT" dirty="0"/>
          </a:p>
        </p:txBody>
      </p:sp>
      <p:sp>
        <p:nvSpPr>
          <p:cNvPr id="3" name="Espaço Reservado para Conteúdo 2">
            <a:extLst>
              <a:ext uri="{FF2B5EF4-FFF2-40B4-BE49-F238E27FC236}">
                <a16:creationId xmlns:a16="http://schemas.microsoft.com/office/drawing/2014/main" id="{D135CE11-C732-FCA4-301D-686F7A8288AD}"/>
              </a:ext>
            </a:extLst>
          </p:cNvPr>
          <p:cNvSpPr>
            <a:spLocks noGrp="1"/>
          </p:cNvSpPr>
          <p:nvPr>
            <p:ph sz="quarter" idx="13"/>
          </p:nvPr>
        </p:nvSpPr>
        <p:spPr/>
        <p:txBody>
          <a:bodyPr/>
          <a:lstStyle/>
          <a:p>
            <a:r>
              <a:rPr lang="pt-BR" dirty="0"/>
              <a:t>O desenvolvimento de um site de vendas para uma padaria pretende facilitar a divulgação dos produtos, melhorar o atendimento aos clientes e tornar o processo de encomenda mais simples e eficiente. A utilização das tecnologias selecionadas permitirá criar uma plataforma funcional e acessível.</a:t>
            </a:r>
            <a:endParaRPr lang="pt-PT"/>
          </a:p>
          <a:p>
            <a:endParaRPr lang="pt-PT"/>
          </a:p>
        </p:txBody>
      </p:sp>
    </p:spTree>
    <p:extLst>
      <p:ext uri="{BB962C8B-B14F-4D97-AF65-F5344CB8AC3E}">
        <p14:creationId xmlns:p14="http://schemas.microsoft.com/office/powerpoint/2010/main" val="3421808682"/>
      </p:ext>
    </p:extLst>
  </p:cSld>
  <p:clrMapOvr>
    <a:masterClrMapping/>
  </p:clrMapOvr>
</p:sld>
</file>

<file path=ppt/theme/theme1.xml><?xml version="1.0" encoding="utf-8"?>
<a:theme xmlns:a="http://schemas.openxmlformats.org/drawingml/2006/main" name="Gotícula">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TM04033925[[fn=Gotícula]]</Template>
  <TotalTime>27</TotalTime>
  <Words>3093</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20</vt:i4>
      </vt:variant>
    </vt:vector>
  </HeadingPairs>
  <TitlesOfParts>
    <vt:vector size="25" baseType="lpstr">
      <vt:lpstr>Arial</vt:lpstr>
      <vt:lpstr>Calibri</vt:lpstr>
      <vt:lpstr>Times New Roman</vt:lpstr>
      <vt:lpstr>Tw Cen MT</vt:lpstr>
      <vt:lpstr>Gotícula</vt:lpstr>
      <vt:lpstr>Desenvolvimento de site de venda para padaria  </vt:lpstr>
      <vt:lpstr>Ficha técnica</vt:lpstr>
      <vt:lpstr>Problema </vt:lpstr>
      <vt:lpstr>PERGUNTA DE PESQUISA </vt:lpstr>
      <vt:lpstr>Objetivo geral e específico </vt:lpstr>
      <vt:lpstr>Tecnologia utilizadas </vt:lpstr>
      <vt:lpstr>Estudo de comparação </vt:lpstr>
      <vt:lpstr>WEB </vt:lpstr>
      <vt:lpstr>Principais utilizações da Web </vt:lpstr>
      <vt:lpstr>CONCEITO DE SITE </vt:lpstr>
      <vt:lpstr>CONCEITO DE HTML  </vt:lpstr>
      <vt:lpstr>CONCEITO DE CSS  </vt:lpstr>
      <vt:lpstr>CONCEITO DE JAVASCRIPT</vt:lpstr>
      <vt:lpstr>CONCEITO DE PHP </vt:lpstr>
      <vt:lpstr>CONCEITO DE MYSQL </vt:lpstr>
      <vt:lpstr>Visual Studio Code </vt:lpstr>
      <vt:lpstr>XAMPP </vt:lpstr>
      <vt:lpstr>Conceito de GitHub </vt:lpstr>
      <vt:lpstr>Conceito de PowerPoint </vt:lpstr>
      <vt:lpstr>CONCLUSÃO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jc</dc:creator>
  <cp:lastModifiedBy>carlos jc</cp:lastModifiedBy>
  <cp:revision>5</cp:revision>
  <dcterms:created xsi:type="dcterms:W3CDTF">2026-10-19T15:16:44Z</dcterms:created>
  <dcterms:modified xsi:type="dcterms:W3CDTF">2026-10-20T15:01:07Z</dcterms:modified>
</cp:coreProperties>
</file>